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SINTETIS / BUKAN PRODUKSI</a:t>
            </a:r>
          </a:p>
          <a:p>
            <a:r>
              <a:t>Bank Nusa Demo adalah fiktif. Tujuan sesi meminta review SOP dan eksplorasi desain, bukan persetujuan go-live.</a:t>
            </a:r>
          </a:p>
          <a:p>
            <a:r>
              <a:t>Sumber: input/deck-brief.md; input/meeting-notes.md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SINTETIS / BUKAN PRODUKSI</a:t>
            </a:r>
          </a:p>
          <a:p>
            <a:r>
              <a:t>Hitung selisih timestamp WIB. Ack terlambat pada C002, C006, C009. Resolusi melewati 120 pada C002, C004, C006, C009, C012. Ini bukan KPI produksi.</a:t>
            </a:r>
          </a:p>
          <a:p>
            <a:r>
              <a:t>Sumber: input/complaints.csv; input/business-policy.md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SINTETIS / BUKAN PRODUKSI</a:t>
            </a:r>
          </a:p>
          <a:p>
            <a:r>
              <a:t>Ack &lt;=15 menit. Data kurang lengkap tidak menghentikan jam. Fraud segera ke supervisor. Kasus aktif &gt;=120 menit dieskalasi manual. Close membutuhkan resolved, receipt sukses, dan audit.</a:t>
            </a:r>
          </a:p>
          <a:p>
            <a:r>
              <a:t>Sumber: input/business-policy.md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SINTETIS / BUKAN PRODUKSI</a:t>
            </a:r>
          </a:p>
          <a:p>
            <a:r>
              <a:t>C4 Container adalah tingkat detail, bukan deployment. Simulator hanya GET status. Tidak ada scheduler, outbox, broker, atau retry worker di as-is.</a:t>
            </a:r>
          </a:p>
          <a:p>
            <a:r>
              <a:t>Sumber: input/system-landscape.md; input/openapi.yaml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SINTETIS / BUKAN PRODUKSI</a:t>
            </a:r>
          </a:p>
          <a:p>
            <a:r>
              <a:t>Usulan berbeda dari as-is. Scheduler dan outbox dapat menambah kompleksitas. ADR harus membandingkan alternatif sebelum keputusan.</a:t>
            </a:r>
          </a:p>
          <a:p>
            <a:r>
              <a:t>Sumber: input/system-landscape.md; input/meeting-notes.md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SINTETIS / BUKAN PRODUKSI</a:t>
            </a:r>
          </a:p>
          <a:p>
            <a:r>
              <a:t>Ini usulan urutan kerja, tidak ada komitmen kalender atau PIC individu. Uji 119, 120, 121 menit dan close tanpa receipt.</a:t>
            </a:r>
          </a:p>
          <a:p>
            <a:r>
              <a:t>Sumber: input/meeting-notes.md; input/issue-backlog.md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SINTETIS / BUKAN PRODUKSI</a:t>
            </a:r>
          </a:p>
          <a:p>
            <a:r>
              <a:t>Batas kemampuan dokumentasi harus eksplisit. Tidak ada akses produksi; isu dipersiapkan lokal saja.</a:t>
            </a:r>
          </a:p>
          <a:p>
            <a:r>
              <a:t>Sumber: input/business-policy.md; input/system-landscape.md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SINTETIS / BUKAN PRODUKSI</a:t>
            </a:r>
          </a:p>
          <a:p>
            <a:r>
              <a:t>Tutup dengan keputusan spesifik. Tidak ada artefak yang diterbitkan otomatis. Seluruh materi tetap sintetis dan bukan ketentuan regulator.</a:t>
            </a:r>
          </a:p>
          <a:p>
            <a:r>
              <a:t>Sumber: input/deck-brief.md; input/meeting-notes.md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2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6B60"/>
                </a:solidFill>
                <a:latin typeface="Aptos"/>
              </a:defRPr>
            </a:pPr>
            <a:r>
              <a:t>BANK NUSA DEMO  /  EXECUTIVE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42D3A"/>
                </a:solidFill>
                <a:latin typeface="Aptos"/>
              </a:defRPr>
            </a:pPr>
            <a:r>
              <a:t>Dari keluhan ke keputusan yang bisa ditelusuri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783080"/>
            <a:ext cx="10972800" cy="3429000"/>
          </a:xfrm>
          <a:prstGeom prst="roundRect">
            <a:avLst>
              <a:gd name="adj" fmla="val 10000"/>
            </a:avLst>
          </a:prstGeom>
          <a:solidFill>
            <a:srgbClr val="E6F3E9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240280"/>
            <a:ext cx="99669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42D3A"/>
                </a:solidFill>
                <a:latin typeface="Aptos"/>
              </a:defRPr>
            </a:pPr>
            <a:r>
              <a:t>Review proses layanan transfer: dokumentasi yang konsisten, arsitektur yang jujur, dan keputusan dengan kontrol manusia.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42519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26B60"/>
                </a:solidFill>
                <a:latin typeface="Aptos"/>
              </a:defRPr>
            </a:pPr>
            <a:r>
              <a:t>Proses bisnis  /  Arsitektur  /  Keputusan manusia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126480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Sumber: input/deck-brief.md | input/meeting-notes.md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473952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SINTETIS / BUKAN PRODUKSI - bukan ketentuan regulator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26B6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2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6B60"/>
                </a:solidFill>
                <a:latin typeface="Aptos"/>
              </a:defRPr>
            </a:pPr>
            <a:r>
              <a:t>BANK NUSA DEMO  /  EXECUTIVE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42D3A"/>
                </a:solidFill>
                <a:latin typeface="Aptos"/>
              </a:defRPr>
            </a:pPr>
            <a:r>
              <a:t>Baseline kecil, terukur, dan sepenuhnya sintetis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874519"/>
            <a:ext cx="3502152" cy="3200400"/>
          </a:xfrm>
          <a:prstGeom prst="roundRect">
            <a:avLst>
              <a:gd name="adj" fmla="val 10000"/>
            </a:avLst>
          </a:prstGeom>
          <a:solidFill>
            <a:srgbClr val="F1F4F4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126B6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30540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2D3A"/>
                </a:solidFill>
                <a:latin typeface="Aptos"/>
              </a:defRPr>
            </a:pPr>
            <a:r>
              <a:t>Kasus dalam sampel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33087"/>
            <a:ext cx="30540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B74"/>
                </a:solidFill>
                <a:latin typeface="Aptos"/>
              </a:defRPr>
            </a:pPr>
            <a:r>
              <a:t>Kasus biasa, lengkap, resolved; 19 Oktober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874519"/>
            <a:ext cx="3502152" cy="3200400"/>
          </a:xfrm>
          <a:prstGeom prst="roundRect">
            <a:avLst>
              <a:gd name="adj" fmla="val 10000"/>
            </a:avLst>
          </a:prstGeom>
          <a:solidFill>
            <a:srgbClr val="E6F3E9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148840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126B60"/>
                </a:solidFill>
                <a:latin typeface="Aptos"/>
              </a:defRPr>
            </a:pPr>
            <a:r>
              <a:t>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3200400"/>
            <a:ext cx="30540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2D3A"/>
                </a:solidFill>
                <a:latin typeface="Aptos"/>
              </a:defRPr>
            </a:pPr>
            <a:r>
              <a:t>Ack dalam &lt;= 15 menit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4133087"/>
            <a:ext cx="30540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B74"/>
                </a:solidFill>
                <a:latin typeface="Aptos"/>
              </a:defRPr>
            </a:pPr>
            <a:r>
              <a:t>9 dari 12 kasus. Tepat 15 menit masih memenuhi.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874519"/>
            <a:ext cx="3502152" cy="3200400"/>
          </a:xfrm>
          <a:prstGeom prst="roundRect">
            <a:avLst>
              <a:gd name="adj" fmla="val 10000"/>
            </a:avLst>
          </a:prstGeom>
          <a:solidFill>
            <a:srgbClr val="F1F4F4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148840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126B60"/>
                </a:solidFill>
                <a:latin typeface="Aptos"/>
              </a:defRPr>
            </a:pPr>
            <a:r>
              <a:t>5 /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200400"/>
            <a:ext cx="30540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42D3A"/>
                </a:solidFill>
                <a:latin typeface="Aptos"/>
              </a:defRPr>
            </a:pPr>
            <a:r>
              <a:t>Resolusi &gt; 120 menit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4133087"/>
            <a:ext cx="30540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36B74"/>
                </a:solidFill>
                <a:latin typeface="Aptos"/>
              </a:defRPr>
            </a:pPr>
            <a:r>
              <a:t>Durasi resolusi; bukan bukti eskalasi atau root cause.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6126480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Sumber: input/complaints.csv | input/business-policy.md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6473952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SINTETIS / BUKAN PRODUKSI - bukan ketentuan regulator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26B60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2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6B60"/>
                </a:solidFill>
                <a:latin typeface="Aptos"/>
              </a:defRPr>
            </a:pPr>
            <a:r>
              <a:t>BANK NUSA DEMO  /  EXECUTIVE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42D3A"/>
                </a:solidFill>
                <a:latin typeface="Aptos"/>
              </a:defRPr>
            </a:pPr>
            <a:r>
              <a:t>Proses baseline: jelas siapa dan kapan bertindak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49424" y="2834639"/>
            <a:ext cx="365760" cy="0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078224" y="2834639"/>
            <a:ext cx="365760" cy="0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78224" y="2532888"/>
            <a:ext cx="36576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4"/>
                </a:solidFill>
                <a:latin typeface="Aptos"/>
              </a:defRPr>
            </a:pPr>
            <a:r>
              <a:t>Ya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07024" y="2834639"/>
            <a:ext cx="365760" cy="0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4446" y="2532888"/>
            <a:ext cx="470916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4"/>
                </a:solidFill>
                <a:latin typeface="Aptos"/>
              </a:defRPr>
            </a:pPr>
            <a:r>
              <a:t>Tidak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35823" y="2834639"/>
            <a:ext cx="365760" cy="0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64624" y="2834639"/>
            <a:ext cx="365760" cy="0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564624" y="2532888"/>
            <a:ext cx="36576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4"/>
                </a:solidFill>
                <a:latin typeface="Aptos"/>
              </a:defRPr>
            </a:pPr>
            <a:r>
              <a:t>Ya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46704" y="3291839"/>
            <a:ext cx="0" cy="1051561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111246" y="3721608"/>
            <a:ext cx="470916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4"/>
                </a:solidFill>
                <a:latin typeface="Aptos"/>
              </a:defRPr>
            </a:pPr>
            <a:r>
              <a:t>Tidak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414016" y="4800600"/>
            <a:ext cx="201168" cy="0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414016" y="2148840"/>
            <a:ext cx="0" cy="2651760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14016" y="2148840"/>
            <a:ext cx="932688" cy="0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346704" y="2148840"/>
            <a:ext cx="0" cy="228600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75504" y="3291839"/>
            <a:ext cx="0" cy="1051561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92624" y="3721608"/>
            <a:ext cx="36576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4"/>
                </a:solidFill>
                <a:latin typeface="Aptos"/>
              </a:defRPr>
            </a:pPr>
            <a:r>
              <a:t>Ya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75504" y="5257800"/>
            <a:ext cx="0" cy="347472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75504" y="5605272"/>
            <a:ext cx="2743200" cy="0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918704" y="2148840"/>
            <a:ext cx="0" cy="3456432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004304" y="2148840"/>
            <a:ext cx="914400" cy="0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04304" y="2148840"/>
            <a:ext cx="0" cy="228600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004304" y="3291839"/>
            <a:ext cx="0" cy="1051561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16014" y="3721608"/>
            <a:ext cx="976579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4"/>
                </a:solidFill>
                <a:latin typeface="Aptos"/>
              </a:defRPr>
            </a:pPr>
            <a:r>
              <a:t>Aktif &gt;=120m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6108192" y="4800600"/>
            <a:ext cx="164592" cy="0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108192" y="2221991"/>
            <a:ext cx="0" cy="2578609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108192" y="2221991"/>
            <a:ext cx="713232" cy="0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21424" y="2221991"/>
            <a:ext cx="0" cy="155449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33104" y="3291839"/>
            <a:ext cx="0" cy="1051561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597646" y="3721608"/>
            <a:ext cx="470916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4"/>
                </a:solidFill>
                <a:latin typeface="Aptos"/>
              </a:defRPr>
            </a:pPr>
            <a:r>
              <a:t>Tidak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564624" y="4800600"/>
            <a:ext cx="182880" cy="0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747504" y="2148840"/>
            <a:ext cx="0" cy="2651760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833104" y="2148840"/>
            <a:ext cx="914400" cy="0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833104" y="2148840"/>
            <a:ext cx="0" cy="228600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86384" y="23774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142D3A"/>
          </a:solidFill>
          <a:ln w="10160">
            <a:solidFill>
              <a:srgbClr val="14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242316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CS: terima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Ack &lt;=15 menit</a:t>
            </a:r>
          </a:p>
        </p:txBody>
      </p:sp>
      <p:sp>
        <p:nvSpPr>
          <p:cNvPr id="40" name="Diamond 39"/>
          <p:cNvSpPr/>
          <p:nvPr/>
        </p:nvSpPr>
        <p:spPr>
          <a:xfrm>
            <a:off x="2615184" y="2377440"/>
            <a:ext cx="1463040" cy="914400"/>
          </a:xfrm>
          <a:prstGeom prst="diamond">
            <a:avLst/>
          </a:prstGeom>
          <a:solidFill>
            <a:srgbClr val="E6F3E9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70048" y="242316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03C47"/>
                </a:solidFill>
                <a:latin typeface="Aptos"/>
              </a:defRPr>
            </a:pPr>
            <a:r>
              <a:t>CS: 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03C47"/>
                </a:solidFill>
                <a:latin typeface="Aptos"/>
              </a:defRPr>
            </a:pPr>
            <a:r>
              <a:t>lengkap?</a:t>
            </a:r>
          </a:p>
        </p:txBody>
      </p:sp>
      <p:sp>
        <p:nvSpPr>
          <p:cNvPr id="42" name="Diamond 41"/>
          <p:cNvSpPr/>
          <p:nvPr/>
        </p:nvSpPr>
        <p:spPr>
          <a:xfrm>
            <a:off x="4443984" y="2377440"/>
            <a:ext cx="1463040" cy="914400"/>
          </a:xfrm>
          <a:prstGeom prst="diamond">
            <a:avLst/>
          </a:prstGeom>
          <a:solidFill>
            <a:srgbClr val="E6F3E9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98848" y="242316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03C47"/>
                </a:solidFill>
                <a:latin typeface="Aptos"/>
              </a:defRPr>
            </a:pPr>
            <a:r>
              <a:t>CS: dugaan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03C47"/>
                </a:solidFill>
                <a:latin typeface="Aptos"/>
              </a:defRPr>
            </a:pPr>
            <a:r>
              <a:t>fraud?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72784" y="23774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242316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Operations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Investigasi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lalu resolved</a:t>
            </a:r>
          </a:p>
        </p:txBody>
      </p:sp>
      <p:sp>
        <p:nvSpPr>
          <p:cNvPr id="46" name="Diamond 45"/>
          <p:cNvSpPr/>
          <p:nvPr/>
        </p:nvSpPr>
        <p:spPr>
          <a:xfrm>
            <a:off x="8101583" y="2377440"/>
            <a:ext cx="1463040" cy="914400"/>
          </a:xfrm>
          <a:prstGeom prst="diamond">
            <a:avLst/>
          </a:prstGeom>
          <a:solidFill>
            <a:srgbClr val="E6F3E9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56448" y="242316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03C47"/>
                </a:solidFill>
                <a:latin typeface="Aptos"/>
              </a:defRPr>
            </a:pPr>
            <a:r>
              <a:t>CS: receipt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03C47"/>
                </a:solidFill>
                <a:latin typeface="Aptos"/>
              </a:defRPr>
            </a:pPr>
            <a:r>
              <a:t>notifikasi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03C47"/>
                </a:solidFill>
                <a:latin typeface="Aptos"/>
              </a:defRPr>
            </a:pPr>
            <a:r>
              <a:t>berhasil?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30384" y="23774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142D3A"/>
          </a:solidFill>
          <a:ln w="10160">
            <a:solidFill>
              <a:srgbClr val="14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85248" y="242316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CS: close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Receipt + audit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15184" y="434340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1F4F4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70048" y="43891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CS: minta 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Jam tetap jalan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43984" y="434340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F0D6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98848" y="43891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Supervisor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Review segera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Lanjut manual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72784" y="434340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F0D6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27648" y="43891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Supervisor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Eskalasi SLA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Review manual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01583" y="434340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1F4F4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56448" y="43891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CS: retry manual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Tetap terbuka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" y="6126480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Sumber: input/business-policy.md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" y="6473952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SINTETIS / BUKAN PRODUKSI - bukan ketentuan regulator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26B60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2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6B60"/>
                </a:solidFill>
                <a:latin typeface="Aptos"/>
              </a:defRPr>
            </a:pPr>
            <a:r>
              <a:t>BANK NUSA DEMO  /  EXECUTIVE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42D3A"/>
                </a:solidFill>
                <a:latin typeface="Aptos"/>
              </a:defRPr>
            </a:pPr>
            <a:r>
              <a:t>Arsitektur as-is: fixture, bukan sistem bank nyata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9464" y="3657600"/>
            <a:ext cx="457200" cy="0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489704" y="3657600"/>
            <a:ext cx="457200" cy="0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586984" y="2167128"/>
            <a:ext cx="0" cy="987552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586984" y="2167128"/>
            <a:ext cx="1783080" cy="0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03289" y="1847088"/>
            <a:ext cx="687628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4"/>
                </a:solidFill>
                <a:latin typeface="Aptos"/>
              </a:defRPr>
            </a:pPr>
            <a:r>
              <a:t>Metadata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21424" y="3429000"/>
            <a:ext cx="3657600" cy="0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479024" y="2651760"/>
            <a:ext cx="0" cy="777240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31452" y="3127248"/>
            <a:ext cx="832104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4"/>
                </a:solidFill>
                <a:latin typeface="Aptos"/>
              </a:defRPr>
            </a:pPr>
            <a:r>
              <a:t>GET status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32704" y="4160520"/>
            <a:ext cx="0" cy="932688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32704" y="5093208"/>
            <a:ext cx="1737360" cy="0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59018" y="4773168"/>
            <a:ext cx="1193292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4"/>
                </a:solidFill>
                <a:latin typeface="Aptos"/>
              </a:defRPr>
            </a:pPr>
            <a:r>
              <a:t>Hasil / receipt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21424" y="3886200"/>
            <a:ext cx="3657600" cy="0"/>
          </a:xfrm>
          <a:prstGeom prst="line">
            <a:avLst/>
          </a:prstGeom>
          <a:ln w="15240">
            <a:solidFill>
              <a:srgbClr val="536B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479024" y="3886200"/>
            <a:ext cx="0" cy="731520"/>
          </a:xfrm>
          <a:prstGeom prst="line">
            <a:avLst/>
          </a:prstGeom>
          <a:ln w="15240">
            <a:solidFill>
              <a:srgbClr val="536B7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203893" y="3995928"/>
            <a:ext cx="904341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536B74"/>
                </a:solidFill>
                <a:latin typeface="Aptos"/>
              </a:defRPr>
            </a:pPr>
            <a:r>
              <a:t>Audit event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3154680"/>
            <a:ext cx="1783080" cy="1005840"/>
          </a:xfrm>
          <a:prstGeom prst="roundRect">
            <a:avLst>
              <a:gd name="adj" fmla="val 10000"/>
            </a:avLst>
          </a:prstGeom>
          <a:solidFill>
            <a:srgbClr val="142D3A"/>
          </a:solidFill>
          <a:ln w="10160">
            <a:solidFill>
              <a:srgbClr val="14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200400"/>
            <a:ext cx="16733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Portal &amp; CS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Workspace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Web UI simulasi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26664" y="3154680"/>
            <a:ext cx="1463040" cy="1005840"/>
          </a:xfrm>
          <a:prstGeom prst="roundRect">
            <a:avLst>
              <a:gd name="adj" fmla="val 10000"/>
            </a:avLst>
          </a:prstGeom>
          <a:solidFill>
            <a:srgbClr val="E6F3E9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81528" y="3200400"/>
            <a:ext cx="135331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API Gateway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Routing demo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46904" y="3154680"/>
            <a:ext cx="1874519" cy="1005840"/>
          </a:xfrm>
          <a:prstGeom prst="roundRect">
            <a:avLst>
              <a:gd name="adj" fmla="val 10000"/>
            </a:avLst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1768" y="3200400"/>
            <a:ext cx="176479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Complaint Service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Monolit modular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70064" y="1691639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E6F3E9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4928" y="1737360"/>
            <a:ext cx="17190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Complaint DB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PostgreSQL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Metadata, bukan ledger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64624" y="1691639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FFF0D6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9488" y="1737360"/>
            <a:ext cx="17190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Core Banking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Simulator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GET status saja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READ-ONLY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70064" y="461772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E6F3E9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8" y="4663440"/>
            <a:ext cx="17190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Notification Stub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Retry manual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64624" y="4617720"/>
            <a:ext cx="1828800" cy="960120"/>
          </a:xfrm>
          <a:prstGeom prst="roundRect">
            <a:avLst>
              <a:gd name="adj" fmla="val 10000"/>
            </a:avLst>
          </a:prstGeom>
          <a:solidFill>
            <a:srgbClr val="E6F3E9"/>
          </a:solidFill>
          <a:ln w="10160">
            <a:solidFill>
              <a:srgbClr val="D7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9488" y="4663440"/>
            <a:ext cx="17190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Audit Store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03C47"/>
                </a:solidFill>
                <a:latin typeface="Aptos"/>
              </a:defRPr>
            </a:pPr>
            <a:r>
              <a:t>Event perubahan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" y="6126480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Sumber: input/system-landscape.md | input/openapi.yaml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" y="6473952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SINTETIS / BUKAN PRODUKSI - bukan ketentuan regulator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26B60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2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6B60"/>
                </a:solidFill>
                <a:latin typeface="Aptos"/>
              </a:defRPr>
            </a:pPr>
            <a:r>
              <a:t>BANK NUSA DEMO  /  EXECUTIVE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42D3A"/>
                </a:solidFill>
                <a:latin typeface="Aptos"/>
              </a:defRPr>
            </a:pPr>
            <a:r>
              <a:t>USULAN: eksplorasi desain, belum implementasi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1847088"/>
            <a:ext cx="109728" cy="109728"/>
          </a:xfrm>
          <a:prstGeom prst="ellipse">
            <a:avLst/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10332720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3C47"/>
                </a:solidFill>
                <a:latin typeface="Aptos"/>
              </a:defRPr>
            </a:pPr>
            <a:r>
              <a:t>SLA Scheduler untuk menandai kasus aktif pada ambang baseline &gt;=120 menit.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2633472"/>
            <a:ext cx="109728" cy="109728"/>
          </a:xfrm>
          <a:prstGeom prst="ellipse">
            <a:avLst/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478024"/>
            <a:ext cx="10332720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3C47"/>
                </a:solidFill>
                <a:latin typeface="Aptos"/>
              </a:defRPr>
            </a:pPr>
            <a:r>
              <a:t>Transactional outbox dan worker untuk retry notifikasi yang durable.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419856"/>
            <a:ext cx="109728" cy="109728"/>
          </a:xfrm>
          <a:prstGeom prst="ellipse">
            <a:avLst/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264408"/>
            <a:ext cx="10332720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3C47"/>
                </a:solidFill>
                <a:latin typeface="Aptos"/>
              </a:defRPr>
            </a:pPr>
            <a:r>
              <a:t>Idempotency dan deduplikasi perlu didesain; bukan jaminan exactly-once.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206240"/>
            <a:ext cx="109728" cy="109728"/>
          </a:xfrm>
          <a:prstGeom prst="ellipse">
            <a:avLst/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050791"/>
            <a:ext cx="10332720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3C47"/>
                </a:solidFill>
                <a:latin typeface="Aptos"/>
              </a:defRPr>
            </a:pPr>
            <a:r>
              <a:t>Pertahankan simulator read-only dan keputusan sensitif oleh manusia.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" y="4992624"/>
            <a:ext cx="109728" cy="109728"/>
          </a:xfrm>
          <a:prstGeom prst="ellipse">
            <a:avLst/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837176"/>
            <a:ext cx="10332720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3C47"/>
                </a:solidFill>
                <a:latin typeface="Aptos"/>
              </a:defRPr>
            </a:pPr>
            <a:r>
              <a:t>Target KPI baru, biaya, PIC individu, dan persetujuan implementasi: TBD.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6126480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Sumber: input/system-landscape.md | input/meeting-notes.md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6473952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SINTETIS / BUKAN PRODUKSI - bukan ketentuan regulator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26B60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2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6B60"/>
                </a:solidFill>
                <a:latin typeface="Aptos"/>
              </a:defRPr>
            </a:pPr>
            <a:r>
              <a:t>BANK NUSA DEMO  /  EXECUTIVE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42D3A"/>
                </a:solidFill>
                <a:latin typeface="Aptos"/>
              </a:defRPr>
            </a:pPr>
            <a:r>
              <a:t>Roadmap berbasis tahap, bukan janji tanggal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3504" y="1783080"/>
          <a:ext cx="1097280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5895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Tahap</a:t>
                      </a:r>
                    </a:p>
                  </a:txBody>
                  <a:tcPr marL="109728" marR="109728" marT="91440" marB="91440" anchor="ctr">
                    <a:solidFill>
                      <a:srgbClr val="126B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Hasil review</a:t>
                      </a:r>
                    </a:p>
                  </a:txBody>
                  <a:tcPr marL="109728" marR="109728" marT="91440" marB="91440" anchor="ctr">
                    <a:solidFill>
                      <a:srgbClr val="126B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PIC / tanggal</a:t>
                      </a:r>
                    </a:p>
                  </a:txBody>
                  <a:tcPr marL="109728" marR="109728" marT="91440" marB="91440" anchor="ctr">
                    <a:solidFill>
                      <a:srgbClr val="126B60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C47"/>
                          </a:solidFill>
                          <a:latin typeface="Aptos"/>
                        </a:defRPr>
                      </a:pPr>
                      <a:r>
                        <a:t>1. Validasi proses</a:t>
                      </a:r>
                    </a:p>
                  </a:txBody>
                  <a:tcPr marL="109728" marR="109728" marT="91440" marB="91440" anchor="ctr">
                    <a:solidFill>
                      <a:srgbClr val="F1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C47"/>
                          </a:solidFill>
                          <a:latin typeface="Aptos"/>
                        </a:defRPr>
                      </a:pPr>
                      <a:r>
                        <a:t>SOP + diagram baseline konsisten</a:t>
                      </a:r>
                    </a:p>
                  </a:txBody>
                  <a:tcPr marL="109728" marR="109728" marT="91440" marB="91440" anchor="ctr">
                    <a:solidFill>
                      <a:srgbClr val="F1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C47"/>
                          </a:solidFill>
                          <a:latin typeface="Aptos"/>
                        </a:defRPr>
                      </a:pPr>
                      <a:r>
                        <a:t>TBD / TBD</a:t>
                      </a:r>
                    </a:p>
                  </a:txBody>
                  <a:tcPr marL="109728" marR="109728" marT="91440" marB="91440" anchor="ctr">
                    <a:solidFill>
                      <a:srgbClr val="F1F4F4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C47"/>
                          </a:solidFill>
                          <a:latin typeface="Aptos"/>
                        </a:defRPr>
                      </a:pPr>
                      <a:r>
                        <a:t>2. Evaluasi desain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C47"/>
                          </a:solidFill>
                          <a:latin typeface="Aptos"/>
                        </a:defRPr>
                      </a:pPr>
                      <a:r>
                        <a:t>ADR Proposed + alternatif dan trade-off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C47"/>
                          </a:solidFill>
                          <a:latin typeface="Aptos"/>
                        </a:defRPr>
                      </a:pPr>
                      <a:r>
                        <a:t>TBD / TBD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C47"/>
                          </a:solidFill>
                          <a:latin typeface="Aptos"/>
                        </a:defRPr>
                      </a:pPr>
                      <a:r>
                        <a:t>3. Uji simulasi</a:t>
                      </a:r>
                    </a:p>
                  </a:txBody>
                  <a:tcPr marL="109728" marR="109728" marT="91440" marB="91440" anchor="ctr">
                    <a:solidFill>
                      <a:srgbClr val="F1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C47"/>
                          </a:solidFill>
                          <a:latin typeface="Aptos"/>
                        </a:defRPr>
                      </a:pPr>
                      <a:r>
                        <a:t>Boundary SLA + failure notifikasi</a:t>
                      </a:r>
                    </a:p>
                  </a:txBody>
                  <a:tcPr marL="109728" marR="109728" marT="91440" marB="91440" anchor="ctr">
                    <a:solidFill>
                      <a:srgbClr val="F1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C47"/>
                          </a:solidFill>
                          <a:latin typeface="Aptos"/>
                        </a:defRPr>
                      </a:pPr>
                      <a:r>
                        <a:t>TBD / TBD</a:t>
                      </a:r>
                    </a:p>
                  </a:txBody>
                  <a:tcPr marL="109728" marR="109728" marT="91440" marB="91440" anchor="ctr">
                    <a:solidFill>
                      <a:srgbClr val="F1F4F4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C47"/>
                          </a:solidFill>
                          <a:latin typeface="Aptos"/>
                        </a:defRPr>
                      </a:pPr>
                      <a:r>
                        <a:t>4. Keputusan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C47"/>
                          </a:solidFill>
                          <a:latin typeface="Aptos"/>
                        </a:defRPr>
                      </a:pPr>
                      <a:r>
                        <a:t>Approval sebelum implementasi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03C47"/>
                          </a:solidFill>
                          <a:latin typeface="Aptos"/>
                        </a:defRPr>
                      </a:pPr>
                      <a:r>
                        <a:t>TBD / TBD</a:t>
                      </a:r>
                    </a:p>
                  </a:txBody>
                  <a:tcPr marL="109728" marR="109728" marT="91440" marB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3504" y="6126480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Sumber: input/meeting-notes.md | input/issue-backlog.md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473952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SINTETIS / BUKAN PRODUKSI - bukan ketentuan regulator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26B60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2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6B60"/>
                </a:solidFill>
                <a:latin typeface="Aptos"/>
              </a:defRPr>
            </a:pPr>
            <a:r>
              <a:t>BANK NUSA DEMO  /  EXECUTIVE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42D3A"/>
                </a:solidFill>
                <a:latin typeface="Aptos"/>
              </a:defRPr>
            </a:pPr>
            <a:r>
              <a:t>Risiko dan kontrol yang tidak boleh hilang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1847088"/>
            <a:ext cx="109728" cy="109728"/>
          </a:xfrm>
          <a:prstGeom prst="ellipse">
            <a:avLst/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10332720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3C47"/>
                </a:solidFill>
                <a:latin typeface="Aptos"/>
              </a:defRPr>
            </a:pPr>
            <a:r>
              <a:t>Output AI harus direview: narasi, diagram, metrik, dan asumsi bisa berbeda.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2633472"/>
            <a:ext cx="109728" cy="109728"/>
          </a:xfrm>
          <a:prstGeom prst="ellipse">
            <a:avLst/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478024"/>
            <a:ext cx="10332720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3C47"/>
                </a:solidFill>
                <a:latin typeface="Aptos"/>
              </a:defRPr>
            </a:pPr>
            <a:r>
              <a:t>Kegagalan notifikasi tidak boleh menghasilkan kasus closed.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419856"/>
            <a:ext cx="109728" cy="109728"/>
          </a:xfrm>
          <a:prstGeom prst="ellipse">
            <a:avLst/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264408"/>
            <a:ext cx="10332720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3C47"/>
                </a:solidFill>
                <a:latin typeface="Aptos"/>
              </a:defRPr>
            </a:pPr>
            <a:r>
              <a:t>Fraud selalu ke review manusia; tidak ada blokir otomatis.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206240"/>
            <a:ext cx="109728" cy="109728"/>
          </a:xfrm>
          <a:prstGeom prst="ellipse">
            <a:avLst/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050791"/>
            <a:ext cx="10332720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3C47"/>
                </a:solidFill>
                <a:latin typeface="Aptos"/>
              </a:defRPr>
            </a:pPr>
            <a:r>
              <a:t>Jangan mengklaim compliance atau manfaat finansial dari fixture workshop.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" y="4992624"/>
            <a:ext cx="109728" cy="109728"/>
          </a:xfrm>
          <a:prstGeom prst="ellipse">
            <a:avLst/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837176"/>
            <a:ext cx="10332720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3C47"/>
                </a:solidFill>
                <a:latin typeface="Aptos"/>
              </a:defRPr>
            </a:pPr>
            <a:r>
              <a:t>Kapasitas, retensi audit, RTO/RPO, dan deployment target masih TBD.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6126480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Sumber: input/business-policy.md | input/system-landscape.md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6473952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SINTETIS / BUKAN PRODUKSI - bukan ketentuan regulator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26B60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2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004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26B60"/>
                </a:solidFill>
                <a:latin typeface="Aptos"/>
              </a:defRPr>
            </a:pPr>
            <a:r>
              <a:t>BANK NUSA DEMO  /  EXECUTIVE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04672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42D3A"/>
                </a:solidFill>
                <a:latin typeface="Aptos"/>
              </a:defRPr>
            </a:pPr>
            <a:r>
              <a:t>Keputusan yang diminta dari stakeholder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1847088"/>
            <a:ext cx="109728" cy="109728"/>
          </a:xfrm>
          <a:prstGeom prst="ellipse">
            <a:avLst/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691640"/>
            <a:ext cx="10332720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3C47"/>
                </a:solidFill>
                <a:latin typeface="Aptos"/>
              </a:defRPr>
            </a:pPr>
            <a:r>
              <a:t>Review SOP dan diagram baseline versi 1.0 sebagai materi simulasi.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2633472"/>
            <a:ext cx="109728" cy="109728"/>
          </a:xfrm>
          <a:prstGeom prst="ellipse">
            <a:avLst/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478024"/>
            <a:ext cx="10332720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3C47"/>
                </a:solidFill>
                <a:latin typeface="Aptos"/>
              </a:defRPr>
            </a:pPr>
            <a:r>
              <a:t>Setujui atau tolak eksplorasi scheduler dan outbox, bukan go-live.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419856"/>
            <a:ext cx="109728" cy="109728"/>
          </a:xfrm>
          <a:prstGeom prst="ellipse">
            <a:avLst/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264408"/>
            <a:ext cx="10332720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3C47"/>
                </a:solidFill>
                <a:latin typeface="Aptos"/>
              </a:defRPr>
            </a:pPr>
            <a:r>
              <a:t>Tentukan approver, PIC individu, dan tanggal setelah sesi; saat ini TBD.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206240"/>
            <a:ext cx="109728" cy="109728"/>
          </a:xfrm>
          <a:prstGeom prst="ellipse">
            <a:avLst/>
          </a:prstGeom>
          <a:solidFill>
            <a:srgbClr val="126B60"/>
          </a:solidFill>
          <a:ln w="10160">
            <a:solidFill>
              <a:srgbClr val="126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050791"/>
            <a:ext cx="10332720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3C47"/>
                </a:solidFill>
                <a:latin typeface="Aptos"/>
              </a:defRPr>
            </a:pPr>
            <a:r>
              <a:t>Gunakan draft issue lokal sebagai bahan diskusi sebelum publikasi.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6126480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Sumber: input/deck-brief.md | input/meeting-notes.md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6473952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36B74"/>
                </a:solidFill>
                <a:latin typeface="Aptos"/>
              </a:defRPr>
            </a:pPr>
            <a:r>
              <a:t>SINTETIS / BUKAN PRODUKSI - bukan ketentuan regulator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91088" y="6455664"/>
            <a:ext cx="585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26B60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Nusa Demo - Review Penanganan Keluhan</dc:title>
  <dc:subject>SINTETIS / BUKAN PRODUKSI</dc:subject>
  <dc:creator>Banking Skills Lab</dc:creator>
  <cp:keywords>synthetic, banking workshop, not production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